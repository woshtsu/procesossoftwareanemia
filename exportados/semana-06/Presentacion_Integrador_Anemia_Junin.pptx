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[Expone: Porras V. (Ingeniero de Proceso). Tiempo: 1:05. Acumulado 1:05]</a:t>
            </a:r>
          </a:p>
          <a:p>
            <a:r>
              <a:t>PITCH (1,5 min de la consigna, reducido a 1:05):</a:t>
            </a:r>
          </a:p>
          <a:p>
            <a:r>
              <a:t>- 0:00 Problema. En Junín el seguimiento de la anemia infantil se pierde porque el proceso es reactivo: triple registro manual (historia clínica, tarjeta de control y digitación en el HIS), agenda a mano, barreras familiares ocultas y conectividad intermitente. Son las brechas B1 a B6.</a:t>
            </a:r>
          </a:p>
          <a:p>
            <a:r>
              <a:t>- 0:25 Propuesta. Pasamos de un proceso reactivo a uno preventivo. La cadena de valor es Datos, Software, Decisión e Impacto: el software no decide, ordena el dato para que el profesional decida a tiempo.</a:t>
            </a:r>
          </a:p>
          <a:p>
            <a:r>
              <a:t>- 0:45 Indicador. El Incremento 1 ataca B1: el indicador de valor medible hoy es pasar de 3 registros manuales por evaluación a 1 expediente digital único. Es un resultado de diseño con datos sintéticos; no inventamos tiempos de respuesta que no medimos.</a:t>
            </a:r>
          </a:p>
          <a:p>
            <a:r>
              <a:t>- 1:00 Transición: "¿Qué proceso usamos para construirlo? Ricardo/Tania, siguiente".</a:t>
            </a:r>
          </a:p>
          <a:p>
            <a:r>
              <a:t>Cifras: Informe §2.1 (Tabla 4 y Tabla 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[Expone: Porras V. Tiempo: 1:05. Acumulado 2:10]</a:t>
            </a:r>
          </a:p>
          <a:p>
            <a:r>
              <a:t>PITCH (por qué las características del proyecto exigieron esta adaptación):</a:t>
            </a:r>
          </a:p>
          <a:p>
            <a:r>
              <a:t>- 0:00 Factores. Cinco factores en nivel alto: incertidumbre (IA, mensajería y modo sin conexión no están cerrados), complejidad, riesgo (decisiones sobre salud infantil y pérdida de datos), integración (HIS, mensajería) y datos/IA.</a:t>
            </a:r>
          </a:p>
          <a:p>
            <a:r>
              <a:t>- 0:20 Decisión. Matriz ponderada de ocho criterios: híbrido iterativo-incremental + Scrum + DevOps (MLOps diferido a INC-5) obtuvo 4,75; Kanban + DevOps + DataOps, 3,85; el enfoque tradicional, 2,95.</a:t>
            </a:r>
          </a:p>
          <a:p>
            <a:r>
              <a:t>- 0:40 Rechazos explícitos. Cascada pura suma 8 de 30 en la comparación de modelos: exige congelar requisitos y validar al final, incompatible con la incertidumbre. Scrum puro no automatiza la entrega: sin ingeniería continua (pruebas, análisis estático, imagen en CI) no hay evidencia por sprint.</a:t>
            </a:r>
          </a:p>
          <a:p>
            <a:r>
              <a:t>- 0:55 Tailoring: equipo de 3 personas, Scrum liviano con sprints de dos semanas, matriz RAE de tres roles.</a:t>
            </a:r>
          </a:p>
          <a:p>
            <a:r>
              <a:t>Cifras: Informe §2.2 (Tablas 7 a 9) y §3.1 (Tabla 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[Expone: Auqui H. (Ingeniera de Desarrollo y Prototipado; arquitectura). Tiempo: 1:05. Acumulado 3:15]</a:t>
            </a:r>
          </a:p>
          <a:p>
            <a:r>
              <a:t>PITCH (cómo la arquitectura soporta los requerimientos no funcionales):</a:t>
            </a:r>
          </a:p>
          <a:p>
            <a:r>
              <a:t>- 0:00 C4 nivel 2. Tres contenedores: cliente PWA (HTML/CSS/JS, manifest y service worker), API FastAPI con núcleo hexagonal (dominio, aplicación, adaptadores) y base de datos PostgreSQL 16 (SQLite en desarrollo y pruebas).</a:t>
            </a:r>
          </a:p>
          <a:p>
            <a:r>
              <a:t>- 0:20 Por qué no hay lo que la consigna menciona: no hay API gateway, microservicios ni caché de servidor. ADR-001 descarta microservicios: con 3 personas y un solo incremento, distribuir sería prematuro; el hexágono deja puertos para evolucionar. La única caché es la de interfaz de la PWA (service worker).</a:t>
            </a:r>
          </a:p>
          <a:p>
            <a:r>
              <a:t>- 0:35 ADR y NFR: ADR-003 PostgreSQL con UNIQUE(dni), FK y CHECK da integridad y concurrencia (un DNI duplicado, incluso en altas simultáneas, lo rechaza la propia base de datos y la API responde 409). ADR-006 consultas por lotes corrigió el N+1: latencia p95 del reporte de 2 200 a 74 ms. ADR-002 PWA con borrador local da disponibilidad de interfaz con red intermitente; el registro definitivo exige conexión y la cola sin conexión llega en INC-3.</a:t>
            </a:r>
          </a:p>
          <a:p>
            <a:r>
              <a:t>- 0:55 Protocolo: REST/JSON con OpenAPI 3.1 y errores por campo en español (ADR-005). WebSockets y gRPC se descartan: el INC-1 no necesita tiempo real. Limitación declarada: sin autenticación (solo X-Usuario).</a:t>
            </a:r>
          </a:p>
          <a:p>
            <a:r>
              <a:t>Cifras: Informe §3.2.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[Expone: Huamani R. (Ingeniero de Calidad y Mejora). Tiempo: 1:05. Acumulado 4:20]</a:t>
            </a:r>
          </a:p>
          <a:p>
            <a:r>
              <a:t>PITCH (evidencia objetiva de calidad y estabilidad del código):</a:t>
            </a:r>
          </a:p>
          <a:p>
            <a:r>
              <a:t>- 0:00 Pirámide: base amplia en el dominio, 62 unitarias (sin BD ni HTTP, menos de 1 s con el adaptador en memoria); 11 de integración y API (SQLite y PostgreSQL 16 en CI); 4 E2E con Playwright; y, aparte, una verificación de carga. Total: 62 + 11 + 4 = 77 pruebas automatizadas declaradas en el tag; 73 reproducidas el 01/10. La prueba de carga es una verificación aparte y no cuenta en ese total.</a:t>
            </a:r>
          </a:p>
          <a:p>
            <a:r>
              <a:t>- 0:20 Cobertura (pytest-cov, equivalente a Jacoco/Istanbul): 99 % con ramas, 641 sentencias y solo 2 sin cubrir; el umbral de la DoD es 80 %.</a:t>
            </a:r>
          </a:p>
          <a:p>
            <a:r>
              <a:t>- 0:35 Carga con Locust (equivalente a k6/JMeter), 50 usuarios, 60 s: antes de DEF-01 el p95 agregado era 310 ms; después, 58 ms, con 39,6 req/s y 0 fallos. El reporte pasó de 2 200 a 74 ms.</a:t>
            </a:r>
          </a:p>
          <a:p>
            <a:r>
              <a:t>- 0:50 DoD: cobertura &gt;= 80 %, Ruff 0 hallazgos, suite en verde. HONESTIDAD: el 01/10 reprodujimos 73 pruebas (62 + 11) pasando, 99,07 % y Ruff 0. Las 4 E2E (falta el navegador de Playwright), la integración en PostgreSQL y la carga no se re-ejecutaron: sus resultados son los declarados en el tag. SonarCloud está preparado pero sin análisis ejecutado.</a:t>
            </a:r>
          </a:p>
          <a:p>
            <a:r>
              <a:t>Cifras: Informe §3.3.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[Expone: Auqui H. (demo) con apoyo de Huamani R. Tiempo: 1:25. Acumulado 5:45]</a:t>
            </a:r>
          </a:p>
          <a:p>
            <a:r>
              <a:t>GUION DE LA DEMO (consigna: 2 min; reducido a 1:25). Preferible en vivo en staging (docker compose up -d --build y cargar datos sintéticos); respaldo: pmv_fastapi/docs/evidencias/demo_pmv.mp4 (1,6 MB; duración [COMPLETAR]).</a:t>
            </a:r>
          </a:p>
          <a:p>
            <a:r>
              <a:t>- 0:00 Contexto: PMV con las 5 historias (la consigna pide al menos HU-01 a HU-03): HU-01 registro con evaluación inicial, HU-02 expediente y nuevos controles, HU-03 validación con vista previa y rechazo comprensible, HU-04 seguimiento, HU-05 reporte JSON y CSV.</a:t>
            </a:r>
          </a:p>
          <a:p>
            <a:r>
              <a:t>- 0:10 Registro (captura 01): se ingresan datos de un niño sintético; la vista previa muestra la hemoglobina ajustada por altitud y la clasificación antes de guardar.</a:t>
            </a:r>
          </a:p>
          <a:p>
            <a:r>
              <a:t>- 0:30 Validación (captura 02): un dato inválido se rechaza con mensaje por campo (422), no con un error genérico.</a:t>
            </a:r>
          </a:p>
          <a:p>
            <a:r>
              <a:t>- 0:45 Expediente y seguimiento (03, 04, 05): el niño registrado aparece en el listado con su estado de control; un nuevo control actualiza la evolución.</a:t>
            </a:r>
          </a:p>
          <a:p>
            <a:r>
              <a:t>- 1:00 Reporte (06) y OpenAPI (08): reporte del periodo en JSON/CSV; contrato OpenAPI 3.1 en /docs.</a:t>
            </a:r>
          </a:p>
          <a:p>
            <a:r>
              <a:t>- 1:10 Entorno: staging con Docker Compose (api + postgres:16) y CI en GitHub Actions. No hay despliegue en la nube. Datos sintéticos.</a:t>
            </a:r>
          </a:p>
          <a:p>
            <a:r>
              <a:t>- 1:20 Validación con usuario final: NO existe acta de aceptación de un usuario real. Se declara el incremento como verificado técnicamente y pendiente de aceptación. [COMPLETAR: acta o correo de aceptación del Product Owner o personal de salud]</a:t>
            </a:r>
          </a:p>
          <a:p>
            <a:r>
              <a:t>Plan B si falla la demo en vivo: reproducir el video y mostrar la captura 07 (vista móvil).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[Expone: Huamani R. Tiempo: 0:40. Acumulado 6:25]</a:t>
            </a:r>
          </a:p>
          <a:p>
            <a:r>
              <a:t>PITCH (datos cuantitativos del éxito de la iteración):</a:t>
            </a:r>
          </a:p>
          <a:p>
            <a:r>
              <a:t>- 0:00 Proceso: planificado vs. completado. El INC-1 planificó 21 puntos de historia en dos sprints (13 + 8) y entregó las 5 historias (21/21). El gráfico compara lo planificado con lo completado (21/21 SP); no es una serie diaria, porque todos los commits del tag son del 30/09. El burndown de S3-4 es un escenario simulado y se rotula así. Desviación: el hito H1 era el 28/09 y la entrega fue el 30/09 (+2 días), registrada en la retrospectiva.</a:t>
            </a:r>
          </a:p>
          <a:p>
            <a:r>
              <a:t>- 0:15 Producto: 2 defectos mayores (DEF-01 N+1 y DEF-02 zona horaria), ambos cerrados: 2 defectos / 1,02 KLOC = 2,0 por KLOC; cobertura 99 %; Ruff 0.</a:t>
            </a:r>
          </a:p>
          <a:p>
            <a:r>
              <a:t>- 0:28 Valor: lo único medido es el 3 → 1 registros por evaluación, por diseño y con datos sintéticos. No atribuimos reducción de pérdida de seguimiento: exige despliegue en una posta, línea base y seguimiento (INC-2 en adelante).</a:t>
            </a:r>
          </a:p>
          <a:p>
            <a:r>
              <a:t>Cifras: Informe §2.3 (Tablas 14 y 18, Figuras 12 a 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[Expone: Porras V. (cierre; los tres pueden sumarse para la defensa). Tiempo: 0:35. Acumulado 7:00]</a:t>
            </a:r>
          </a:p>
          <a:p>
            <a:r>
              <a:t>PITCH (coherencia completa del trabajo):</a:t>
            </a:r>
          </a:p>
          <a:p>
            <a:r>
              <a:t>- 0:00 Hilo: B1 (triple registro) -&gt; M1 registro único -&gt; modelo híbrido (Sprints 1 y 2) -&gt; ADR-001, 003, 004, 005 -&gt; CP-01 a CP-36 -&gt; HU-01 a HU-05 -&gt; indicador 3 -&gt; 1. La matriz completa conecta las Unidades I y II (Informe §4, Tabla 30).</a:t>
            </a:r>
          </a:p>
          <a:p>
            <a:r>
              <a:t>- 0:15 Tres conclusiones: (1) el modelo híbrido entregó el incremento completo con trazabilidad extremo a extremo; (2) la cobertura sola no habría revelado DEF-01 ni DEF-02: los detectaron la carga y el E2E; (3) demostramos valor técnico y de diseño, no impacto asistencial.</a:t>
            </a:r>
          </a:p>
          <a:p>
            <a:r>
              <a:t>- 0:28 Siguiente: INC-2, agenda automática y alertas (HIST-2.1 a 2.4, 18 puntos), Sprint 3 (29/09 a 12/10). Antes de un piloto: revisar prioridad de INC-3, confirmar puntos de corte con la microred, protección de datos (Ley N.° 29733) y autenticación.</a:t>
            </a:r>
          </a:p>
          <a:p>
            <a:r>
              <a:t>Cierre: "Gracias; quedamos atentos a las preguntas".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1 · Del triple registro al expediente único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0_s6_as_is_vs_to_b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0"/>
            <a:ext cx="9784080" cy="5505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12680" y="1280160"/>
            <a:ext cx="2057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Brechas </a:t>
            </a:r>
            <a:r>
              <a:rPr sz="1600" b="1">
                <a:solidFill>
                  <a:srgbClr val="0B5C75"/>
                </a:solidFill>
                <a:latin typeface="Calibri"/>
              </a:rPr>
              <a:t>B1–B6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Datos ➔ Software ➔ Decisión ➔ Impacto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Valor: </a:t>
            </a:r>
            <a:r>
              <a:rPr sz="1600" b="1">
                <a:solidFill>
                  <a:srgbClr val="0B5C75"/>
                </a:solidFill>
                <a:latin typeface="Calibri"/>
              </a:rPr>
              <a:t>3 registros → 1</a:t>
            </a:r>
            <a:r>
              <a:rPr sz="1600" b="0">
                <a:solidFill>
                  <a:srgbClr val="1B2A3A"/>
                </a:solidFill>
                <a:latin typeface="Calibri"/>
              </a:rPr>
              <a:t> por evaluación (sintético)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Anemia Junín · Porras · Auqui · Huamani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5B6B7A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2 · Tailoring: híbrido, no Cascada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303520"/>
            <a:ext cx="11460175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1B2A3A"/>
                </a:solidFill>
                <a:latin typeface="Calibri"/>
              </a:rPr>
              <a:t>Iterativo-incremental + </a:t>
            </a:r>
            <a:r>
              <a:rPr sz="2000" b="1">
                <a:solidFill>
                  <a:srgbClr val="0B5C75"/>
                </a:solidFill>
                <a:latin typeface="Calibri"/>
              </a:rPr>
              <a:t>Scrum</a:t>
            </a:r>
            <a:r>
              <a:rPr sz="2000" b="0">
                <a:solidFill>
                  <a:srgbClr val="1B2A3A"/>
                </a:solidFill>
                <a:latin typeface="Calibri"/>
              </a:rPr>
              <a:t> + </a:t>
            </a:r>
            <a:r>
              <a:rPr sz="2000" b="1">
                <a:solidFill>
                  <a:srgbClr val="0B5C75"/>
                </a:solidFill>
                <a:latin typeface="Calibri"/>
              </a:rPr>
              <a:t>DevOps</a:t>
            </a:r>
            <a:r>
              <a:rPr sz="2000" b="0">
                <a:solidFill>
                  <a:srgbClr val="1B2A3A"/>
                </a:solidFill>
                <a:latin typeface="Calibri"/>
              </a:rPr>
              <a:t> (MLOps desde INC-5)</a:t>
            </a:r>
          </a:p>
          <a:p>
            <a:pPr algn="ctr"/>
            <a:r>
              <a:rPr sz="2000" b="0">
                <a:solidFill>
                  <a:srgbClr val="1B2A3A"/>
                </a:solidFill>
                <a:latin typeface="Calibri"/>
              </a:rPr>
              <a:t>Puntaje ponderado </a:t>
            </a:r>
            <a:r>
              <a:rPr sz="2000" b="1">
                <a:solidFill>
                  <a:srgbClr val="0B5C75"/>
                </a:solidFill>
                <a:latin typeface="Calibri"/>
              </a:rPr>
              <a:t>4,75</a:t>
            </a:r>
            <a:r>
              <a:rPr sz="2000" b="0">
                <a:solidFill>
                  <a:srgbClr val="1B2A3A"/>
                </a:solidFill>
                <a:latin typeface="Calibri"/>
              </a:rPr>
              <a:t> vs. 3,85 vs. 2,95</a:t>
            </a:r>
          </a:p>
          <a:p>
            <a:pPr algn="ctr"/>
            <a:r>
              <a:rPr sz="2000" b="0">
                <a:solidFill>
                  <a:srgbClr val="1B2A3A"/>
                </a:solidFill>
                <a:latin typeface="Calibri"/>
              </a:rPr>
              <a:t>Rechazados: </a:t>
            </a:r>
            <a:r>
              <a:rPr sz="2000" b="1">
                <a:solidFill>
                  <a:srgbClr val="0B5C75"/>
                </a:solidFill>
                <a:latin typeface="Calibri"/>
              </a:rPr>
              <a:t>Cascada pura (8/30)</a:t>
            </a:r>
            <a:r>
              <a:rPr sz="2000" b="0">
                <a:solidFill>
                  <a:srgbClr val="1B2A3A"/>
                </a:solidFill>
                <a:latin typeface="Calibri"/>
              </a:rPr>
              <a:t> y Scrum puro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1173146"/>
            <a:ext cx="4501712" cy="396306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277" y="1173146"/>
            <a:ext cx="7218537" cy="3963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68735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5B6B7A"/>
                </a:solidFill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3 · Arquitectura: monolito hexagonal + API 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303520"/>
            <a:ext cx="11460175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1B2A3A"/>
                </a:solidFill>
                <a:latin typeface="Calibri"/>
              </a:rPr>
              <a:t>REST/JSON + OpenAPI 3.1 (ADR-005): sin WebSockets ni gRPC</a:t>
            </a:r>
          </a:p>
          <a:p>
            <a:pPr algn="ctr"/>
            <a:r>
              <a:rPr sz="2000" b="0">
                <a:solidFill>
                  <a:srgbClr val="1B2A3A"/>
                </a:solidFill>
                <a:latin typeface="Calibri"/>
              </a:rPr>
              <a:t>Sin microservicios, gateway ni caché de servidor (ADR-001)</a:t>
            </a:r>
          </a:p>
          <a:p>
            <a:pPr algn="ctr"/>
            <a:r>
              <a:rPr sz="2000" b="1">
                <a:solidFill>
                  <a:srgbClr val="0B5C75"/>
                </a:solidFill>
                <a:latin typeface="Calibri"/>
              </a:rPr>
              <a:t>ADR-003</a:t>
            </a:r>
            <a:r>
              <a:rPr sz="2000" b="0">
                <a:solidFill>
                  <a:srgbClr val="1B2A3A"/>
                </a:solidFill>
                <a:latin typeface="Calibri"/>
              </a:rPr>
              <a:t> integridad · </a:t>
            </a:r>
            <a:r>
              <a:rPr sz="2000" b="1">
                <a:solidFill>
                  <a:srgbClr val="0B5C75"/>
                </a:solidFill>
                <a:latin typeface="Calibri"/>
              </a:rPr>
              <a:t>ADR-006</a:t>
            </a:r>
            <a:r>
              <a:rPr sz="2000" b="0">
                <a:solidFill>
                  <a:srgbClr val="1B2A3A"/>
                </a:solidFill>
                <a:latin typeface="Calibri"/>
              </a:rPr>
              <a:t> latencia · </a:t>
            </a:r>
            <a:r>
              <a:rPr sz="2000" b="1">
                <a:solidFill>
                  <a:srgbClr val="0B5C75"/>
                </a:solidFill>
                <a:latin typeface="Calibri"/>
              </a:rPr>
              <a:t>ADR-002</a:t>
            </a:r>
            <a:r>
              <a:rPr sz="2000" b="0">
                <a:solidFill>
                  <a:srgbClr val="1B2A3A"/>
                </a:solidFill>
                <a:latin typeface="Calibri"/>
              </a:rPr>
              <a:t> disponibilidad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02" y="1051560"/>
            <a:ext cx="1087649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68735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5B6B7A"/>
                </a:solidFill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4 · Pruebas: evidencia objetiva de calidad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892040"/>
            <a:ext cx="1146017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B5C75"/>
                </a:solidFill>
                <a:latin typeface="Calibri"/>
              </a:rPr>
              <a:t>62+11+4 = 77</a:t>
            </a:r>
            <a:r>
              <a:rPr sz="2000" b="0">
                <a:solidFill>
                  <a:srgbClr val="1B2A3A"/>
                </a:solidFill>
                <a:latin typeface="Calibri"/>
              </a:rPr>
              <a:t> declaradas, </a:t>
            </a:r>
            <a:r>
              <a:rPr sz="2000" b="1">
                <a:solidFill>
                  <a:srgbClr val="0B5C75"/>
                </a:solidFill>
                <a:latin typeface="Calibri"/>
              </a:rPr>
              <a:t>73</a:t>
            </a:r>
            <a:r>
              <a:rPr sz="2000" b="0">
                <a:solidFill>
                  <a:srgbClr val="1B2A3A"/>
                </a:solidFill>
                <a:latin typeface="Calibri"/>
              </a:rPr>
              <a:t> reproducidas el 01/10</a:t>
            </a:r>
          </a:p>
          <a:p>
            <a:pPr algn="ctr"/>
            <a:r>
              <a:rPr sz="2000" b="0">
                <a:solidFill>
                  <a:srgbClr val="1B2A3A"/>
                </a:solidFill>
                <a:latin typeface="Calibri"/>
              </a:rPr>
              <a:t>Carga: verificación aparte, no cuenta como prueba</a:t>
            </a:r>
          </a:p>
          <a:p>
            <a:pPr algn="ctr"/>
            <a:r>
              <a:rPr sz="2000" b="0">
                <a:solidFill>
                  <a:srgbClr val="1B2A3A"/>
                </a:solidFill>
                <a:latin typeface="Calibri"/>
              </a:rPr>
              <a:t>Cobertura </a:t>
            </a:r>
            <a:r>
              <a:rPr sz="2000" b="1">
                <a:solidFill>
                  <a:srgbClr val="0B5C75"/>
                </a:solidFill>
                <a:latin typeface="Calibri"/>
              </a:rPr>
              <a:t>99 %</a:t>
            </a:r>
            <a:r>
              <a:rPr sz="2000" b="0">
                <a:solidFill>
                  <a:srgbClr val="1B2A3A"/>
                </a:solidFill>
                <a:latin typeface="Calibri"/>
              </a:rPr>
              <a:t>, p95 </a:t>
            </a:r>
            <a:r>
              <a:rPr sz="2000" b="1">
                <a:solidFill>
                  <a:srgbClr val="0B5C75"/>
                </a:solidFill>
                <a:latin typeface="Calibri"/>
              </a:rPr>
              <a:t>310 → 58 ms</a:t>
            </a:r>
          </a:p>
          <a:p>
            <a:pPr algn="ctr"/>
            <a:r>
              <a:rPr sz="2000" b="0">
                <a:solidFill>
                  <a:srgbClr val="1B2A3A"/>
                </a:solidFill>
                <a:latin typeface="Calibri"/>
              </a:rPr>
              <a:t>DoD cumplida: ≥ 80 %, Ruff 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45" y="1051560"/>
            <a:ext cx="5039681" cy="379475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766" y="1051560"/>
            <a:ext cx="5146582" cy="37947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68735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5B6B7A"/>
                </a:solidFill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5 · Demo: HU-01 a HU-05 operativas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5_s6_collag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0"/>
            <a:ext cx="9784080" cy="5500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12680" y="1280160"/>
            <a:ext cx="2057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HU-01 a HU-05: </a:t>
            </a:r>
            <a:r>
              <a:rPr sz="1600" b="1">
                <a:solidFill>
                  <a:srgbClr val="0B5C75"/>
                </a:solidFill>
                <a:latin typeface="Calibri"/>
              </a:rPr>
              <a:t>entregadas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Video demo_pmv.mp4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Staging: Docker Compose + CI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Aceptación del usuario: pendiente de acta (ver Anexo A del informe)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5B6B7A"/>
                </a:solidFill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6 · Tablero: proceso, producto y valor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303520"/>
            <a:ext cx="11460175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1B2A3A"/>
                </a:solidFill>
                <a:latin typeface="Calibri"/>
              </a:rPr>
              <a:t>INC-1: </a:t>
            </a:r>
            <a:r>
              <a:rPr sz="2000" b="1">
                <a:solidFill>
                  <a:srgbClr val="0B5C75"/>
                </a:solidFill>
                <a:latin typeface="Calibri"/>
              </a:rPr>
              <a:t>5/5</a:t>
            </a:r>
            <a:r>
              <a:rPr sz="2000" b="0">
                <a:solidFill>
                  <a:srgbClr val="1B2A3A"/>
                </a:solidFill>
                <a:latin typeface="Calibri"/>
              </a:rPr>
              <a:t> historias, </a:t>
            </a:r>
            <a:r>
              <a:rPr sz="2000" b="1">
                <a:solidFill>
                  <a:srgbClr val="0B5C75"/>
                </a:solidFill>
                <a:latin typeface="Calibri"/>
              </a:rPr>
              <a:t>21/21</a:t>
            </a:r>
            <a:r>
              <a:rPr sz="2000" b="0">
                <a:solidFill>
                  <a:srgbClr val="1B2A3A"/>
                </a:solidFill>
                <a:latin typeface="Calibri"/>
              </a:rPr>
              <a:t> SP, hito H1 </a:t>
            </a:r>
            <a:r>
              <a:rPr sz="2000" b="1">
                <a:solidFill>
                  <a:srgbClr val="0B5C75"/>
                </a:solidFill>
                <a:latin typeface="Calibri"/>
              </a:rPr>
              <a:t>+2 días</a:t>
            </a:r>
          </a:p>
          <a:p>
            <a:pPr algn="ctr"/>
            <a:r>
              <a:rPr sz="2000" b="1">
                <a:solidFill>
                  <a:srgbClr val="0B5C75"/>
                </a:solidFill>
                <a:latin typeface="Calibri"/>
              </a:rPr>
              <a:t>2,0 defectos/KLOC</a:t>
            </a:r>
            <a:r>
              <a:rPr sz="2000" b="0">
                <a:solidFill>
                  <a:srgbClr val="1B2A3A"/>
                </a:solidFill>
                <a:latin typeface="Calibri"/>
              </a:rPr>
              <a:t> (0 abiertos) · cobertura </a:t>
            </a:r>
            <a:r>
              <a:rPr sz="2000" b="1">
                <a:solidFill>
                  <a:srgbClr val="0B5C75"/>
                </a:solidFill>
                <a:latin typeface="Calibri"/>
              </a:rPr>
              <a:t>99 %</a:t>
            </a:r>
          </a:p>
          <a:p>
            <a:pPr algn="ctr"/>
            <a:r>
              <a:rPr sz="2000" b="0">
                <a:solidFill>
                  <a:srgbClr val="1B2A3A"/>
                </a:solidFill>
                <a:latin typeface="Calibri"/>
              </a:rPr>
              <a:t>Valor: </a:t>
            </a:r>
            <a:r>
              <a:rPr sz="2000" b="1">
                <a:solidFill>
                  <a:srgbClr val="0B5C75"/>
                </a:solidFill>
                <a:latin typeface="Calibri"/>
              </a:rPr>
              <a:t>3 → 1</a:t>
            </a:r>
            <a:r>
              <a:rPr sz="2000" b="0">
                <a:solidFill>
                  <a:srgbClr val="1B2A3A"/>
                </a:solidFill>
                <a:latin typeface="Calibri"/>
              </a:rPr>
              <a:t> registros por evaluación (sintético)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76370"/>
            <a:ext cx="6192486" cy="375661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328" y="1276370"/>
            <a:ext cx="5545486" cy="37566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68735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5B6B7A"/>
                </a:solidFill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7 · Trazabilidad integral y cierre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4_s6_flujo_trazabilidad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0"/>
            <a:ext cx="9784080" cy="5505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12680" y="1280160"/>
            <a:ext cx="2057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Híbrido: 5 HU con ADR, prueba y artefacto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Carga y E2E revelaron DEF-01 y DEF-02 (cerrados)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Valor técnico demostrado; impacto por medir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Siguiente: </a:t>
            </a:r>
            <a:r>
              <a:rPr sz="1600" b="1">
                <a:solidFill>
                  <a:srgbClr val="0B5C75"/>
                </a:solidFill>
                <a:latin typeface="Calibri"/>
              </a:rPr>
              <a:t>INC-2</a:t>
            </a:r>
            <a:r>
              <a:rPr sz="1600" b="0">
                <a:solidFill>
                  <a:srgbClr val="1B2A3A"/>
                </a:solidFill>
                <a:latin typeface="Calibri"/>
              </a:rPr>
              <a:t> (Unidad III)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5B6B7A"/>
                </a:solidFill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